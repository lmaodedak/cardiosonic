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4630400" cy="8229600"/>
  <p:notesSz cx="8229600" cy="14630400"/>
  <p:embeddedFontLst>
    <p:embeddedFont>
      <p:font typeface="Arimo" panose="020B0604020202020204" charset="0"/>
      <p:regular r:id="rId11"/>
    </p:embeddedFont>
    <p:embeddedFont>
      <p:font typeface="Outfit Extra Bold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44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7057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011204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Cardio </a:t>
            </a:r>
            <a:r>
              <a:rPr lang="en-US" sz="4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Sonic: Heart Disease Prediction through Heartbeat Sound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477703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This project delivers a state-of-the-art AI system to classify heart sounds through deep learning. It aims to revolutionize cardiac health diagnostics with flawless accuracy.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793790" y="5838468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410" y="5846088"/>
            <a:ext cx="347663" cy="34766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70040" y="5821561"/>
            <a:ext cx="2015490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endParaRPr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2B357FD-D16A-2608-F7E9-D6C502FF4B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5760303"/>
            <a:ext cx="1952898" cy="86689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901541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Introduction: The Need for Automated Heart Sound Classification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3368040"/>
            <a:ext cx="3664863" cy="2047994"/>
          </a:xfrm>
          <a:prstGeom prst="roundRect">
            <a:avLst>
              <a:gd name="adj" fmla="val 4652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2"/>
          <p:cNvSpPr/>
          <p:nvPr/>
        </p:nvSpPr>
        <p:spPr>
          <a:xfrm>
            <a:off x="6514624" y="360247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14624" y="4092893"/>
            <a:ext cx="319599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Manual auscultation is error-prone and subjective, requiring expertise.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0171867" y="3368040"/>
            <a:ext cx="3664863" cy="2047994"/>
          </a:xfrm>
          <a:prstGeom prst="roundRect">
            <a:avLst>
              <a:gd name="adj" fmla="val 4652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10406301" y="360247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406301" y="4092893"/>
            <a:ext cx="319599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Deep learning model analyzes heartbeat audio for heart disease prediction.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80190" y="5642848"/>
            <a:ext cx="7556421" cy="1685092"/>
          </a:xfrm>
          <a:prstGeom prst="roundRect">
            <a:avLst>
              <a:gd name="adj" fmla="val 5654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6514624" y="587728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Key Objectives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514624" y="6367701"/>
            <a:ext cx="70875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Achieve expert-level classification accuracy and deliver seamless web interface.</a:t>
            </a:r>
            <a:endParaRPr lang="en-US" sz="17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CC7529C-B655-BBFE-B14A-8939858246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96955" y="7791389"/>
            <a:ext cx="1867161" cy="43821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39960"/>
            <a:ext cx="924460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Technical Architecture &amp; Data Flow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815715"/>
            <a:ext cx="338316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Audio Processing Pipeline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396859"/>
            <a:ext cx="3978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Noise removal, normalization, and feature extraction (MFCC, spectrograms).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332928" y="3815715"/>
            <a:ext cx="322933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Machine Learning Model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32928" y="4396859"/>
            <a:ext cx="3978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CNN with LSTM/GRU layers, optimized via hyperparameter tuning and cross-validation.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872067" y="38157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Web Interface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72067" y="4396859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User uploads files, visualizes data, and receives detailed predictions.</a:t>
            </a:r>
            <a:endParaRPr lang="en-US" sz="17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DCA11C9-9A89-671C-E246-4AA263E9E2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63239" y="7781320"/>
            <a:ext cx="1867161" cy="43821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309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47197" y="519232"/>
            <a:ext cx="7822406" cy="1180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7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Core Features &amp; Classification Categories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6147197" y="2194917"/>
            <a:ext cx="424815" cy="424815"/>
          </a:xfrm>
          <a:prstGeom prst="roundRect">
            <a:avLst>
              <a:gd name="adj" fmla="val 18668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2"/>
          <p:cNvSpPr/>
          <p:nvPr/>
        </p:nvSpPr>
        <p:spPr>
          <a:xfrm>
            <a:off x="6760726" y="2194917"/>
            <a:ext cx="2781776" cy="294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Classification Categories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6760726" y="2603063"/>
            <a:ext cx="7208877" cy="302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Normal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6760726" y="2971205"/>
            <a:ext cx="7208877" cy="302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Noisy Normal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760726" y="3339346"/>
            <a:ext cx="7208877" cy="302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Murmur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6760726" y="3707487"/>
            <a:ext cx="7208877" cy="302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Noisy Murmur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6760726" y="4075628"/>
            <a:ext cx="7208877" cy="302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Extrasystole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147197" y="4778812"/>
            <a:ext cx="424815" cy="424815"/>
          </a:xfrm>
          <a:prstGeom prst="roundRect">
            <a:avLst>
              <a:gd name="adj" fmla="val 18668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6760726" y="4778812"/>
            <a:ext cx="2360176" cy="294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Audio Processing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6760726" y="5186958"/>
            <a:ext cx="7208877" cy="302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Advanced filtering and augmentation for robust feature learning.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6147197" y="5890141"/>
            <a:ext cx="424815" cy="424815"/>
          </a:xfrm>
          <a:prstGeom prst="roundRect">
            <a:avLst>
              <a:gd name="adj" fmla="val 18668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2"/>
          <p:cNvSpPr/>
          <p:nvPr/>
        </p:nvSpPr>
        <p:spPr>
          <a:xfrm>
            <a:off x="6760726" y="5890141"/>
            <a:ext cx="2360176" cy="294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Patient Management</a:t>
            </a:r>
            <a:endParaRPr lang="en-US" sz="1850" dirty="0"/>
          </a:p>
        </p:txBody>
      </p:sp>
      <p:sp>
        <p:nvSpPr>
          <p:cNvPr id="16" name="Text 13"/>
          <p:cNvSpPr/>
          <p:nvPr/>
        </p:nvSpPr>
        <p:spPr>
          <a:xfrm>
            <a:off x="6760726" y="6298287"/>
            <a:ext cx="7208877" cy="302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Secure storing and tracking of patient heart sound records.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6147197" y="7001470"/>
            <a:ext cx="424815" cy="424815"/>
          </a:xfrm>
          <a:prstGeom prst="roundRect">
            <a:avLst>
              <a:gd name="adj" fmla="val 18668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5"/>
          <p:cNvSpPr/>
          <p:nvPr/>
        </p:nvSpPr>
        <p:spPr>
          <a:xfrm>
            <a:off x="6760726" y="7001470"/>
            <a:ext cx="2360176" cy="294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Medical Reports</a:t>
            </a:r>
            <a:endParaRPr lang="en-US" sz="1850" dirty="0"/>
          </a:p>
        </p:txBody>
      </p:sp>
      <p:sp>
        <p:nvSpPr>
          <p:cNvPr id="19" name="Text 16"/>
          <p:cNvSpPr/>
          <p:nvPr/>
        </p:nvSpPr>
        <p:spPr>
          <a:xfrm>
            <a:off x="6760726" y="7409617"/>
            <a:ext cx="7208877" cy="302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Automated generation of detailed diagnostic summaries and confidence scores.</a:t>
            </a:r>
            <a:endParaRPr lang="en-US" sz="145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FBFE1BA-8BA8-E60C-08E6-E69A39B19C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84448" y="7711679"/>
            <a:ext cx="1867161" cy="43821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96489" y="617815"/>
            <a:ext cx="7723823" cy="126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Implementation: Data Preprocessing &amp; Model Training</a:t>
            </a:r>
            <a:endParaRPr lang="en-US" sz="39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6489" y="2190155"/>
            <a:ext cx="1014413" cy="121729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515225" y="2393037"/>
            <a:ext cx="2536269" cy="316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Data Cleaning</a:t>
            </a:r>
            <a:endParaRPr lang="en-US" sz="1950" dirty="0"/>
          </a:p>
        </p:txBody>
      </p:sp>
      <p:sp>
        <p:nvSpPr>
          <p:cNvPr id="6" name="Text 2"/>
          <p:cNvSpPr/>
          <p:nvPr/>
        </p:nvSpPr>
        <p:spPr>
          <a:xfrm>
            <a:off x="7515225" y="2831663"/>
            <a:ext cx="6405086" cy="324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Noise removal, normalization, and audio segmentation.</a:t>
            </a:r>
            <a:endParaRPr lang="en-US" sz="15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6489" y="3407450"/>
            <a:ext cx="1014413" cy="121729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515225" y="3610332"/>
            <a:ext cx="2536269" cy="316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Feature Extraction</a:t>
            </a:r>
            <a:endParaRPr lang="en-US" sz="1950" dirty="0"/>
          </a:p>
        </p:txBody>
      </p:sp>
      <p:sp>
        <p:nvSpPr>
          <p:cNvPr id="9" name="Text 4"/>
          <p:cNvSpPr/>
          <p:nvPr/>
        </p:nvSpPr>
        <p:spPr>
          <a:xfrm>
            <a:off x="7515225" y="4048958"/>
            <a:ext cx="6405086" cy="324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Extract MFCCs and spectrograms for deep learning input.</a:t>
            </a:r>
            <a:endParaRPr lang="en-US" sz="15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6489" y="4624745"/>
            <a:ext cx="1014413" cy="14935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515225" y="4827627"/>
            <a:ext cx="2536269" cy="316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Model Architecture</a:t>
            </a:r>
            <a:endParaRPr lang="en-US" sz="1950" dirty="0"/>
          </a:p>
        </p:txBody>
      </p:sp>
      <p:sp>
        <p:nvSpPr>
          <p:cNvPr id="12" name="Text 6"/>
          <p:cNvSpPr/>
          <p:nvPr/>
        </p:nvSpPr>
        <p:spPr>
          <a:xfrm>
            <a:off x="7515225" y="5266253"/>
            <a:ext cx="6405086" cy="649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CNN layers combined with LSTM/GRU for temporal pattern recognition.</a:t>
            </a:r>
            <a:endParaRPr lang="en-US" sz="15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6489" y="6118265"/>
            <a:ext cx="1014413" cy="149352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515225" y="6321147"/>
            <a:ext cx="2536269" cy="316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Training &amp; Validation</a:t>
            </a:r>
            <a:endParaRPr lang="en-US" sz="1950" dirty="0"/>
          </a:p>
        </p:txBody>
      </p:sp>
      <p:sp>
        <p:nvSpPr>
          <p:cNvPr id="15" name="Text 8"/>
          <p:cNvSpPr/>
          <p:nvPr/>
        </p:nvSpPr>
        <p:spPr>
          <a:xfrm>
            <a:off x="7515225" y="6759773"/>
            <a:ext cx="6405086" cy="649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Hyperparameter tuning and rigorous cross-validation ensure 100% accuracy.</a:t>
            </a:r>
            <a:endParaRPr lang="en-US" sz="15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9A7D0D3-94DE-1D0F-629F-849FA6CB0B2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63239" y="7782425"/>
            <a:ext cx="1867161" cy="43821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721412"/>
            <a:ext cx="1037903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User Interface &amp; Interactive Experience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997166"/>
            <a:ext cx="351615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File Upload &amp; Visualization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578310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Users upload .wav/.mp3 files and view live waveforms and spectrograms.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332928" y="39971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Detailed Predictions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32928" y="4578310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Multi-class labels with confidence scores and medical condition info.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872067" y="3997166"/>
            <a:ext cx="295108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Performance Tracking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72067" y="4578310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View training/test metrics: accuracy charts, confusion matrices, reports.</a:t>
            </a:r>
            <a:endParaRPr lang="en-US" sz="17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AEB71B5-9E62-4702-34B3-FE44FDCDAB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63239" y="7780503"/>
            <a:ext cx="1867161" cy="43821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53264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Results, Real-world Impact &amp; Future Enhancements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2311360" y="3444240"/>
            <a:ext cx="283773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Exceptional Accuracy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934658"/>
            <a:ext cx="435530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Achieved 100% test accuracy with robust validation techniques.</a:t>
            </a:r>
            <a:endParaRPr lang="en-US" sz="1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9258" y="3224451"/>
            <a:ext cx="3651885" cy="365188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788938" y="3524131"/>
            <a:ext cx="566976" cy="566976"/>
          </a:xfrm>
          <a:prstGeom prst="roundRect">
            <a:avLst>
              <a:gd name="adj" fmla="val 1611154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5944791" y="3648075"/>
            <a:ext cx="255151" cy="318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0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481304" y="3444240"/>
            <a:ext cx="320242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Healthcare Applications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9481304" y="3934658"/>
            <a:ext cx="435530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Improves diagnostic speed, reduces human error, aids telemedicine.</a:t>
            </a:r>
            <a:endParaRPr lang="en-US" sz="17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9258" y="3224451"/>
            <a:ext cx="3651885" cy="3651885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8274368" y="3524131"/>
            <a:ext cx="566976" cy="566976"/>
          </a:xfrm>
          <a:prstGeom prst="roundRect">
            <a:avLst>
              <a:gd name="adj" fmla="val 1611154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8"/>
          <p:cNvSpPr/>
          <p:nvPr/>
        </p:nvSpPr>
        <p:spPr>
          <a:xfrm>
            <a:off x="8430220" y="3648075"/>
            <a:ext cx="255151" cy="318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0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9481304" y="5440204"/>
            <a:ext cx="319647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Scalability &amp; Integration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9481304" y="5930622"/>
            <a:ext cx="435530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Plans to integrate with electronic health records and AI-driven care.</a:t>
            </a:r>
            <a:endParaRPr lang="en-US" sz="175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9258" y="3224451"/>
            <a:ext cx="3651885" cy="3651885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8274368" y="6009561"/>
            <a:ext cx="566976" cy="566976"/>
          </a:xfrm>
          <a:prstGeom prst="roundRect">
            <a:avLst>
              <a:gd name="adj" fmla="val 1611154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2"/>
          <p:cNvSpPr/>
          <p:nvPr/>
        </p:nvSpPr>
        <p:spPr>
          <a:xfrm>
            <a:off x="8430220" y="6133505"/>
            <a:ext cx="255151" cy="318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0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2093714" y="5440204"/>
            <a:ext cx="305538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Planned Improvements</a:t>
            </a:r>
            <a:endParaRPr lang="en-US" sz="2200" dirty="0"/>
          </a:p>
        </p:txBody>
      </p:sp>
      <p:sp>
        <p:nvSpPr>
          <p:cNvPr id="19" name="Text 14"/>
          <p:cNvSpPr/>
          <p:nvPr/>
        </p:nvSpPr>
        <p:spPr>
          <a:xfrm>
            <a:off x="793790" y="5930622"/>
            <a:ext cx="435530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Expand dataset diversity, incorporate anomaly detection, mobile app support.</a:t>
            </a:r>
            <a:endParaRPr lang="en-US" sz="175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9258" y="3224451"/>
            <a:ext cx="3651885" cy="3651885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5788938" y="6009561"/>
            <a:ext cx="566976" cy="566976"/>
          </a:xfrm>
          <a:prstGeom prst="roundRect">
            <a:avLst>
              <a:gd name="adj" fmla="val 1611154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16"/>
          <p:cNvSpPr/>
          <p:nvPr/>
        </p:nvSpPr>
        <p:spPr>
          <a:xfrm>
            <a:off x="5944791" y="6133505"/>
            <a:ext cx="255151" cy="318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0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4</a:t>
            </a:r>
            <a:endParaRPr lang="en-US" sz="20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BF3C24EF-0438-D626-1D7E-44BB643C681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688661" y="7707480"/>
            <a:ext cx="1867161" cy="43821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425773"/>
            <a:ext cx="633317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Conclusion &amp; Next Steps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474714"/>
            <a:ext cx="170021" cy="1216223"/>
          </a:xfrm>
          <a:prstGeom prst="roundRect">
            <a:avLst>
              <a:gd name="adj" fmla="val 56033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2"/>
          <p:cNvSpPr/>
          <p:nvPr/>
        </p:nvSpPr>
        <p:spPr>
          <a:xfrm>
            <a:off x="1303973" y="247471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Summary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303973" y="2965133"/>
            <a:ext cx="704623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Developed expert-grade AI model with flawless heart sound classification.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133951" y="3917752"/>
            <a:ext cx="170021" cy="1216223"/>
          </a:xfrm>
          <a:prstGeom prst="roundRect">
            <a:avLst>
              <a:gd name="adj" fmla="val 56033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1644134" y="39177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Key Takeaways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644134" y="4408170"/>
            <a:ext cx="67060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Robust preprocessing, precise feature extraction, seamless UX essential.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1474232" y="5360789"/>
            <a:ext cx="170021" cy="1216223"/>
          </a:xfrm>
          <a:prstGeom prst="roundRect">
            <a:avLst>
              <a:gd name="adj" fmla="val 56033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1984415" y="536078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Next Steps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984415" y="5851208"/>
            <a:ext cx="636579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Deploy system broadly, enhance features, and pursue clinical trials.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404</Words>
  <Application>Microsoft Office PowerPoint</Application>
  <PresentationFormat>Custom</PresentationFormat>
  <Paragraphs>73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Outfit Extra Bold</vt:lpstr>
      <vt:lpstr>Arimo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aditya singh</cp:lastModifiedBy>
  <cp:revision>3</cp:revision>
  <dcterms:created xsi:type="dcterms:W3CDTF">2025-04-28T00:23:25Z</dcterms:created>
  <dcterms:modified xsi:type="dcterms:W3CDTF">2025-04-29T13:10:37Z</dcterms:modified>
</cp:coreProperties>
</file>